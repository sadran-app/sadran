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20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6202E"/>
                </a:solidFill>
                <a:latin typeface="Arial"/>
              </a:rPr>
              <a:t>עומס מאוזן בין העובדים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עומס סופ״ש</c:v>
                </c:pt>
              </c:strCache>
            </c:strRef>
          </c:tx>
          <c:spPr>
            <a:solidFill>
              <a:srgbClr val="E880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דנה</c:v>
                  </c:pt>
                  <c:pt idx="1">
                    <c:v>יוסי</c:v>
                  </c:pt>
                  <c:pt idx="2">
                    <c:v>גיא</c:v>
                  </c:pt>
                  <c:pt idx="3">
                    <c:v>נועה</c:v>
                  </c:pt>
                  <c:pt idx="4">
                    <c:v>רון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0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8804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291840"/>
            <a:ext cx="4206240" cy="4206240"/>
          </a:xfrm>
          <a:prstGeom prst="ellipse">
            <a:avLst/>
          </a:prstGeom>
          <a:solidFill>
            <a:srgbClr val="0F9C8F">
              <a:alpha val="1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932688" y="324612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21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הסידור השבועי של המסעדה — מוכן בדקות, בלי כאב ראש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41832" y="4160520"/>
            <a:ext cx="3383280" cy="566928"/>
          </a:xfrm>
          <a:prstGeom prst="roundRect">
            <a:avLst>
              <a:gd name="adj" fmla="val 14516"/>
            </a:avLst>
          </a:prstGeom>
          <a:solidFill>
            <a:srgbClr val="E8804B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" y="416052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הדגמה למנהל המסעדה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הכאב המוכר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כמה זמן הסידור עולה לך כל שבוע?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64224" y="16916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55096" y="2002536"/>
            <a:ext cx="310896" cy="310896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6" name="Text 4"/>
          <p:cNvSpPr/>
          <p:nvPr/>
        </p:nvSpPr>
        <p:spPr>
          <a:xfrm>
            <a:off x="6729984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על וואטסאפ ואקסל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729984" y="2478024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אוסף זמינות מכל אחד, מרכיב ביד, מתקן שוב ושוב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39496" y="1691640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30368" y="2002536"/>
            <a:ext cx="310896" cy="310896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10" name="Text 8"/>
          <p:cNvSpPr/>
          <p:nvPr/>
        </p:nvSpPr>
        <p:spPr>
          <a:xfrm>
            <a:off x="905256" y="1965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שעולות ביוקר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05256" y="2478024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מישהו בלי מנוחה, קטין עד חצות, גל בלי מלצר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364224" y="3813048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055096" y="4123944"/>
            <a:ext cx="310896" cy="310896"/>
          </a:xfrm>
          <a:prstGeom prst="ellipse">
            <a:avLst/>
          </a:prstGeom>
          <a:solidFill>
            <a:srgbClr val="E7A100"/>
          </a:solidFill>
          <a:ln/>
        </p:spPr>
      </p:sp>
      <p:sp>
        <p:nvSpPr>
          <p:cNvPr id="14" name="Text 12"/>
          <p:cNvSpPr/>
          <p:nvPr/>
        </p:nvSpPr>
        <p:spPr>
          <a:xfrm>
            <a:off x="6729984" y="4087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מריבות על הוגנות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729984" y="459943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„למה שוב אני בשבת?” — ואין לך תשובה מסודרת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9496" y="3813048"/>
            <a:ext cx="5257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30368" y="4123944"/>
            <a:ext cx="310896" cy="310896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8" name="Text 16"/>
          <p:cNvSpPr/>
          <p:nvPr/>
        </p:nvSpPr>
        <p:spPr>
          <a:xfrm>
            <a:off x="905256" y="40873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נפילות ברגע האחרון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05256" y="4599432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מלצר מבטל בשבת ב-20:00 ואתה רודף אחרי מחליף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0" y="640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זה סַדְרָן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2011680" y="10515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מגדיר את הכללים. סַדְרָן בונה את הסידור.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74736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826496" y="3154680"/>
            <a:ext cx="457200" cy="457200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6" name="Text 4"/>
          <p:cNvSpPr/>
          <p:nvPr/>
        </p:nvSpPr>
        <p:spPr>
          <a:xfrm>
            <a:off x="1082649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94776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אוסף זמינות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494776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4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העובדים עונים בוואטסאפ. אתה לא רודף אחרי אף אחד.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4256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986016" y="3154680"/>
            <a:ext cx="457200" cy="457200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1" name="Text 9"/>
          <p:cNvSpPr/>
          <p:nvPr/>
        </p:nvSpPr>
        <p:spPr>
          <a:xfrm>
            <a:off x="698601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654296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בונה סידור חכם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54296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4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מנוע ששוקל זמינות, תפקידים, חוקי עבודה והוגנות — בשניות.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" y="269748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45536" y="3154680"/>
            <a:ext cx="457200" cy="457200"/>
          </a:xfrm>
          <a:prstGeom prst="ellipse">
            <a:avLst/>
          </a:prstGeom>
          <a:solidFill>
            <a:srgbClr val="E7A100"/>
          </a:solidFill>
          <a:ln/>
        </p:spPr>
      </p:sp>
      <p:sp>
        <p:nvSpPr>
          <p:cNvPr id="16" name="Text 14"/>
          <p:cNvSpPr/>
          <p:nvPr/>
        </p:nvSpPr>
        <p:spPr>
          <a:xfrm>
            <a:off x="3145536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13816" y="384048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מנהל החלפות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3816" y="438912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C4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מישהו נפל? המשמרת נשלחת אוטומטית לזכאים בלבד.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איך זה עובד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ארבעה צעדים, שבוע אחרי שבוע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63456" y="2514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54996" y="2898648"/>
            <a:ext cx="731520" cy="731520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6" name="Text 4"/>
          <p:cNvSpPr/>
          <p:nvPr/>
        </p:nvSpPr>
        <p:spPr>
          <a:xfrm>
            <a:off x="10254996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546336" y="3749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זמינות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46336" y="4206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העובדים מסמנים מתי הם יכולים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60536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345936" y="2514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237476" y="2898648"/>
            <a:ext cx="731520" cy="731520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2" name="Text 10"/>
          <p:cNvSpPr/>
          <p:nvPr/>
        </p:nvSpPr>
        <p:spPr>
          <a:xfrm>
            <a:off x="7237476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28816" y="3749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צור סידור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28816" y="4206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אחת — והמנוע משבץ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43016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328416" y="2514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19956" y="2898648"/>
            <a:ext cx="731520" cy="731520"/>
          </a:xfrm>
          <a:prstGeom prst="ellipse">
            <a:avLst/>
          </a:prstGeom>
          <a:solidFill>
            <a:srgbClr val="E7A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19956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511296" y="3749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פרסם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511296" y="4206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עובד מקבל את המשמרות שלו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25496" y="3154680"/>
            <a:ext cx="502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310896" y="2514600"/>
            <a:ext cx="25146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02436" y="2898648"/>
            <a:ext cx="731520" cy="731520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24" name="Text 22"/>
          <p:cNvSpPr/>
          <p:nvPr/>
        </p:nvSpPr>
        <p:spPr>
          <a:xfrm>
            <a:off x="1202436" y="2898648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93776" y="374904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החלפות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3776" y="42062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נפילות מטופלות אוטומטית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הסידור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הסידור השבועי — בדיוק כמו שאתה חושב עליו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010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ראשון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122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שני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2356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שלישי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רביעי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84832" y="1901952"/>
            <a:ext cx="1133856" cy="402336"/>
          </a:xfrm>
          <a:prstGeom prst="roundRect">
            <a:avLst>
              <a:gd name="adj" fmla="val 11364"/>
            </a:avLst>
          </a:prstGeom>
          <a:solidFill>
            <a:srgbClr val="FBEFCF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" y="1901952"/>
            <a:ext cx="1133856" cy="402336"/>
          </a:xfrm>
          <a:prstGeom prst="roundRect">
            <a:avLst>
              <a:gd name="adj" fmla="val 11364"/>
            </a:avLst>
          </a:prstGeom>
          <a:solidFill>
            <a:srgbClr val="FBEFC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89720" y="187452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5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 · תפקיד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44584" y="2331720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בוקר · 08:00 · טבח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7415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807415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ליאור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8543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688543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69671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569671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אורי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0799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450799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ליאור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927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25" name="Text 23"/>
          <p:cNvSpPr/>
          <p:nvPr/>
        </p:nvSpPr>
        <p:spPr>
          <a:xfrm>
            <a:off x="331927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גיא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57400" y="2331720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27" name="Shape 25"/>
          <p:cNvSpPr/>
          <p:nvPr/>
        </p:nvSpPr>
        <p:spPr>
          <a:xfrm>
            <a:off x="213055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28" name="Text 26"/>
          <p:cNvSpPr/>
          <p:nvPr/>
        </p:nvSpPr>
        <p:spPr>
          <a:xfrm>
            <a:off x="213055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גיא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8680" y="2331720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30" name="Shape 28"/>
          <p:cNvSpPr/>
          <p:nvPr/>
        </p:nvSpPr>
        <p:spPr>
          <a:xfrm>
            <a:off x="941832" y="2450592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2F1FB"/>
          </a:solidFill>
          <a:ln/>
        </p:spPr>
      </p:sp>
      <p:sp>
        <p:nvSpPr>
          <p:cNvPr id="31" name="Text 29"/>
          <p:cNvSpPr/>
          <p:nvPr/>
        </p:nvSpPr>
        <p:spPr>
          <a:xfrm>
            <a:off x="941832" y="2450592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B6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ליאור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44584" y="2990088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בוקר · 10:00 · מלצר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07415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34" name="Text 32"/>
          <p:cNvSpPr/>
          <p:nvPr/>
        </p:nvSpPr>
        <p:spPr>
          <a:xfrm>
            <a:off x="807415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דנה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88543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36" name="Text 34"/>
          <p:cNvSpPr/>
          <p:nvPr/>
        </p:nvSpPr>
        <p:spPr>
          <a:xfrm>
            <a:off x="688543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69671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38" name="Text 36"/>
          <p:cNvSpPr/>
          <p:nvPr/>
        </p:nvSpPr>
        <p:spPr>
          <a:xfrm>
            <a:off x="569671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עידן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0799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40" name="Text 38"/>
          <p:cNvSpPr/>
          <p:nvPr/>
        </p:nvSpPr>
        <p:spPr>
          <a:xfrm>
            <a:off x="450799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נועה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927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42" name="Text 40"/>
          <p:cNvSpPr/>
          <p:nvPr/>
        </p:nvSpPr>
        <p:spPr>
          <a:xfrm>
            <a:off x="331927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רון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057400" y="2990088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44" name="Shape 42"/>
          <p:cNvSpPr/>
          <p:nvPr/>
        </p:nvSpPr>
        <p:spPr>
          <a:xfrm>
            <a:off x="213055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45" name="Text 43"/>
          <p:cNvSpPr/>
          <p:nvPr/>
        </p:nvSpPr>
        <p:spPr>
          <a:xfrm>
            <a:off x="213055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דנה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68680" y="2990088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47" name="Shape 45"/>
          <p:cNvSpPr/>
          <p:nvPr/>
        </p:nvSpPr>
        <p:spPr>
          <a:xfrm>
            <a:off x="941832" y="3108960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ECE7FB"/>
          </a:solidFill>
          <a:ln/>
        </p:spPr>
      </p:sp>
      <p:sp>
        <p:nvSpPr>
          <p:cNvPr id="48" name="Text 46"/>
          <p:cNvSpPr/>
          <p:nvPr/>
        </p:nvSpPr>
        <p:spPr>
          <a:xfrm>
            <a:off x="941832" y="3108960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6B46C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מאיה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244584" y="3648456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 · 18:00 · מלצר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07415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51" name="Text 49"/>
          <p:cNvSpPr/>
          <p:nvPr/>
        </p:nvSpPr>
        <p:spPr>
          <a:xfrm>
            <a:off x="807415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עומר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88543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53" name="Text 51"/>
          <p:cNvSpPr/>
          <p:nvPr/>
        </p:nvSpPr>
        <p:spPr>
          <a:xfrm>
            <a:off x="688543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תמר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69671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55" name="Text 53"/>
          <p:cNvSpPr/>
          <p:nvPr/>
        </p:nvSpPr>
        <p:spPr>
          <a:xfrm>
            <a:off x="569671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רון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50799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57" name="Text 55"/>
          <p:cNvSpPr/>
          <p:nvPr/>
        </p:nvSpPr>
        <p:spPr>
          <a:xfrm>
            <a:off x="450799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עידן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31927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59" name="Text 57"/>
          <p:cNvSpPr/>
          <p:nvPr/>
        </p:nvSpPr>
        <p:spPr>
          <a:xfrm>
            <a:off x="331927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נועה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057400" y="3648456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61" name="Shape 59"/>
          <p:cNvSpPr/>
          <p:nvPr/>
        </p:nvSpPr>
        <p:spPr>
          <a:xfrm>
            <a:off x="213055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62" name="Text 60"/>
          <p:cNvSpPr/>
          <p:nvPr/>
        </p:nvSpPr>
        <p:spPr>
          <a:xfrm>
            <a:off x="213055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עומר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68680" y="3648456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64" name="Shape 62"/>
          <p:cNvSpPr/>
          <p:nvPr/>
        </p:nvSpPr>
        <p:spPr>
          <a:xfrm>
            <a:off x="941832" y="3767328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FCF"/>
          </a:solidFill>
          <a:ln/>
        </p:spPr>
      </p:sp>
      <p:sp>
        <p:nvSpPr>
          <p:cNvPr id="65" name="Text 63"/>
          <p:cNvSpPr/>
          <p:nvPr/>
        </p:nvSpPr>
        <p:spPr>
          <a:xfrm>
            <a:off x="941832" y="3767328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9A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תמר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244584" y="4306824"/>
            <a:ext cx="2057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 · 18:00 · ברמן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07415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D6F3EE"/>
          </a:solidFill>
          <a:ln/>
        </p:spPr>
      </p:sp>
      <p:sp>
        <p:nvSpPr>
          <p:cNvPr id="68" name="Text 66"/>
          <p:cNvSpPr/>
          <p:nvPr/>
        </p:nvSpPr>
        <p:spPr>
          <a:xfrm>
            <a:off x="807415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88543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D6F3EE"/>
          </a:solidFill>
          <a:ln/>
        </p:spPr>
      </p:sp>
      <p:sp>
        <p:nvSpPr>
          <p:cNvPr id="70" name="Text 68"/>
          <p:cNvSpPr/>
          <p:nvPr/>
        </p:nvSpPr>
        <p:spPr>
          <a:xfrm>
            <a:off x="688543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ניר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69671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D6F3EE"/>
          </a:solidFill>
          <a:ln/>
        </p:spPr>
      </p:sp>
      <p:sp>
        <p:nvSpPr>
          <p:cNvPr id="72" name="Text 70"/>
          <p:cNvSpPr/>
          <p:nvPr/>
        </p:nvSpPr>
        <p:spPr>
          <a:xfrm>
            <a:off x="569671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רותם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50799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D6F3EE"/>
          </a:solidFill>
          <a:ln/>
        </p:spPr>
      </p:sp>
      <p:sp>
        <p:nvSpPr>
          <p:cNvPr id="74" name="Text 72"/>
          <p:cNvSpPr/>
          <p:nvPr/>
        </p:nvSpPr>
        <p:spPr>
          <a:xfrm>
            <a:off x="450799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הדר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31927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D6F3EE"/>
          </a:solidFill>
          <a:ln/>
        </p:spPr>
      </p:sp>
      <p:sp>
        <p:nvSpPr>
          <p:cNvPr id="76" name="Text 74"/>
          <p:cNvSpPr/>
          <p:nvPr/>
        </p:nvSpPr>
        <p:spPr>
          <a:xfrm>
            <a:off x="331927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C76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ניר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057400" y="4306824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78" name="Shape 76"/>
          <p:cNvSpPr/>
          <p:nvPr/>
        </p:nvSpPr>
        <p:spPr>
          <a:xfrm>
            <a:off x="213055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3E1"/>
          </a:solidFill>
          <a:ln w="12700">
            <a:solidFill>
              <a:srgbClr val="E4574C"/>
            </a:solidFill>
            <a:prstDash val="dash"/>
          </a:ln>
        </p:spPr>
      </p:sp>
      <p:sp>
        <p:nvSpPr>
          <p:cNvPr id="79" name="Text 77"/>
          <p:cNvSpPr/>
          <p:nvPr/>
        </p:nvSpPr>
        <p:spPr>
          <a:xfrm>
            <a:off x="213055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1 +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868680" y="4306824"/>
            <a:ext cx="1188720" cy="658368"/>
          </a:xfrm>
          <a:prstGeom prst="rect">
            <a:avLst/>
          </a:prstGeom>
          <a:solidFill>
            <a:srgbClr val="FBF4E4"/>
          </a:solidFill>
          <a:ln/>
        </p:spPr>
      </p:sp>
      <p:sp>
        <p:nvSpPr>
          <p:cNvPr id="81" name="Shape 79"/>
          <p:cNvSpPr/>
          <p:nvPr/>
        </p:nvSpPr>
        <p:spPr>
          <a:xfrm>
            <a:off x="941832" y="4425696"/>
            <a:ext cx="1042416" cy="420624"/>
          </a:xfrm>
          <a:prstGeom prst="roundRect">
            <a:avLst>
              <a:gd name="adj" fmla="val 10870"/>
            </a:avLst>
          </a:prstGeom>
          <a:solidFill>
            <a:srgbClr val="FBE3E1"/>
          </a:solidFill>
          <a:ln w="12700">
            <a:solidFill>
              <a:srgbClr val="E4574C"/>
            </a:solidFill>
            <a:prstDash val="dash"/>
          </a:ln>
        </p:spPr>
      </p:sp>
      <p:sp>
        <p:nvSpPr>
          <p:cNvPr id="82" name="Text 80"/>
          <p:cNvSpPr/>
          <p:nvPr/>
        </p:nvSpPr>
        <p:spPr>
          <a:xfrm>
            <a:off x="941832" y="4425696"/>
            <a:ext cx="10424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5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1 +</a:t>
            </a:r>
            <a:endParaRPr lang="en-US" sz="1050" dirty="0"/>
          </a:p>
        </p:txBody>
      </p:sp>
      <p:sp>
        <p:nvSpPr>
          <p:cNvPr id="83" name="Shape 81"/>
          <p:cNvSpPr/>
          <p:nvPr/>
        </p:nvSpPr>
        <p:spPr>
          <a:xfrm>
            <a:off x="868680" y="2331720"/>
            <a:ext cx="832104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68680" y="2990088"/>
            <a:ext cx="832104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68680" y="3648456"/>
            <a:ext cx="832104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68680" y="4306824"/>
            <a:ext cx="832104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68680" y="4965192"/>
            <a:ext cx="8321040" cy="0"/>
          </a:xfrm>
          <a:prstGeom prst="line">
            <a:avLst/>
          </a:prstGeom>
          <a:noFill/>
          <a:ln w="9525">
            <a:solidFill>
              <a:srgbClr val="E4E8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68680" y="5440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ימים כעמודות · צבע לפי גל · סופ״ש מודגש · חוסרים באדום</a:t>
            </a:r>
            <a:endParaRPr lang="en-US" sz="1250" dirty="0"/>
          </a:p>
        </p:txBody>
      </p:sp>
      <p:sp>
        <p:nvSpPr>
          <p:cNvPr id="89" name="Text 87"/>
          <p:cNvSpPr/>
          <p:nvPr/>
        </p:nvSpPr>
        <p:spPr>
          <a:xfrm>
            <a:off x="9829800" y="58064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 מזוהה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10835640" y="5852160"/>
            <a:ext cx="201168" cy="201168"/>
          </a:xfrm>
          <a:prstGeom prst="ellipse">
            <a:avLst/>
          </a:prstGeom>
          <a:solidFill>
            <a:srgbClr val="FBE3E1"/>
          </a:solidFill>
          <a:ln/>
        </p:spPr>
      </p:sp>
      <p:sp>
        <p:nvSpPr>
          <p:cNvPr id="91" name="Text 89"/>
          <p:cNvSpPr/>
          <p:nvPr/>
        </p:nvSpPr>
        <p:spPr>
          <a:xfrm>
            <a:off x="8412480" y="58064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ערב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418320" y="5852160"/>
            <a:ext cx="201168" cy="201168"/>
          </a:xfrm>
          <a:prstGeom prst="ellipse">
            <a:avLst/>
          </a:prstGeom>
          <a:solidFill>
            <a:srgbClr val="FBEFCF"/>
          </a:solidFill>
          <a:ln/>
        </p:spPr>
      </p:sp>
      <p:sp>
        <p:nvSpPr>
          <p:cNvPr id="93" name="Text 91"/>
          <p:cNvSpPr/>
          <p:nvPr/>
        </p:nvSpPr>
        <p:spPr>
          <a:xfrm>
            <a:off x="6995160" y="58064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גל מאוחר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8001000" y="5852160"/>
            <a:ext cx="201168" cy="201168"/>
          </a:xfrm>
          <a:prstGeom prst="ellipse">
            <a:avLst/>
          </a:prstGeom>
          <a:solidFill>
            <a:srgbClr val="ECE7FB"/>
          </a:solidFill>
          <a:ln/>
        </p:spPr>
      </p:sp>
      <p:sp>
        <p:nvSpPr>
          <p:cNvPr id="95" name="Text 93"/>
          <p:cNvSpPr/>
          <p:nvPr/>
        </p:nvSpPr>
        <p:spPr>
          <a:xfrm>
            <a:off x="5577840" y="5806440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בוקר</a:t>
            </a:r>
            <a:endParaRPr lang="en-US" sz="1100" dirty="0"/>
          </a:p>
        </p:txBody>
      </p:sp>
      <p:sp>
        <p:nvSpPr>
          <p:cNvPr id="96" name="Shape 94"/>
          <p:cNvSpPr/>
          <p:nvPr/>
        </p:nvSpPr>
        <p:spPr>
          <a:xfrm>
            <a:off x="6583680" y="5852160"/>
            <a:ext cx="201168" cy="201168"/>
          </a:xfrm>
          <a:prstGeom prst="ellipse">
            <a:avLst/>
          </a:prstGeom>
          <a:solidFill>
            <a:srgbClr val="E2F1FB"/>
          </a:solidFill>
          <a:ln/>
        </p:spPr>
      </p:sp>
      <p:sp>
        <p:nvSpPr>
          <p:cNvPr id="97" name="Text 95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טעויות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סַדְרָן אף פעם לא מפספס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83880" y="16916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0" y="1947672"/>
            <a:ext cx="237744" cy="237744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1892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שעות מנוחה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503920" y="23500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ישבץ מישהו בלי מנוחה חוקית בין משמרות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4256" y="16916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51776" y="1947672"/>
            <a:ext cx="237744" cy="237744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10" name="Text 8"/>
          <p:cNvSpPr/>
          <p:nvPr/>
        </p:nvSpPr>
        <p:spPr>
          <a:xfrm>
            <a:off x="4654296" y="1892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חוק הקטינים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4654296" y="23500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קטין לא ישובץ למשמרת שנגמרת מאוחר מדי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" y="1691640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2152" y="1947672"/>
            <a:ext cx="237744" cy="237744"/>
          </a:xfrm>
          <a:prstGeom prst="ellipse">
            <a:avLst/>
          </a:prstGeom>
          <a:solidFill>
            <a:srgbClr val="6B46C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18928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תפקידים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04672" y="2350008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טבח למטבח, ברמן לבר — כל אחד במקום שלו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83880" y="3447288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1201400" y="3703320"/>
            <a:ext cx="237744" cy="237744"/>
          </a:xfrm>
          <a:prstGeom prst="ellipse">
            <a:avLst/>
          </a:prstGeom>
          <a:solidFill>
            <a:srgbClr val="E7A100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3648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מקסימום משמרות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503920" y="4105656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אף אחד לא יעבור את התקרה שקבעת לו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34256" y="3447288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51776" y="3703320"/>
            <a:ext cx="237744" cy="237744"/>
          </a:xfrm>
          <a:prstGeom prst="ellipse">
            <a:avLst/>
          </a:prstGeom>
          <a:solidFill>
            <a:srgbClr val="E4574C"/>
          </a:solidFill>
          <a:ln/>
        </p:spPr>
      </p:sp>
      <p:sp>
        <p:nvSpPr>
          <p:cNvPr id="22" name="Text 20"/>
          <p:cNvSpPr/>
          <p:nvPr/>
        </p:nvSpPr>
        <p:spPr>
          <a:xfrm>
            <a:off x="4654296" y="3648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זמינות אמיתית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4654296" y="4105656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שאמר „לא יכול” — פשוט לא ישובץ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84632" y="3447288"/>
            <a:ext cx="35204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02152" y="3703320"/>
            <a:ext cx="237744" cy="237744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3648456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04672" y="4105656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עומס הסופ״ש מתחלק שווה, מחזור אחרי מחזור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הוגנות אוטומטית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„מי שעשה שבת שעברה — נדחק”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0" y="1737360"/>
            <a:ext cx="55778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9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 זוכר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1155680" y="2660904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26060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כל משמרת סופ״ש וסגירה נספרת לכל עובד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0" y="3319272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3264408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המחזור הבא מתחיל מהעומס המצטבר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155680" y="3977640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922776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 שנשא יותר — מקבל עדיפות לנוח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0" y="4636008"/>
            <a:ext cx="201168" cy="20116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4581144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מקבל צוות מרוצה, בלי לנהל את זה ביד</a:t>
            </a:r>
            <a:endParaRPr lang="en-US" sz="14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640080" y="187452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Text 12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זיהוי חוסרים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רואה את הבור לפני שהוא מפוצץ לך משמרת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0" y="17830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0" y="20574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E457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777240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חוסרים זוהו מראש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092440" y="397764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סוף שבוע עמוס — סַדְרָן סימן בדיוק איפה חסר צוות, כדי שתספיק להשלים.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685800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60120" y="201168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החוסרים שזוהו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2651760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65176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שבת · ערב 18:00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6517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ברמן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51560" y="2761488"/>
            <a:ext cx="1143000" cy="283464"/>
          </a:xfrm>
          <a:prstGeom prst="roundRect">
            <a:avLst>
              <a:gd name="adj" fmla="val 16129"/>
            </a:avLst>
          </a:prstGeom>
          <a:solidFill>
            <a:srgbClr val="E4574C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761488"/>
            <a:ext cx="1143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" y="3273552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273552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שישי · ערב 18:00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77440" y="327355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ברמן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051560" y="3383280"/>
            <a:ext cx="1143000" cy="283464"/>
          </a:xfrm>
          <a:prstGeom prst="roundRect">
            <a:avLst>
              <a:gd name="adj" fmla="val 16129"/>
            </a:avLst>
          </a:prstGeom>
          <a:solidFill>
            <a:srgbClr val="E4574C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383280"/>
            <a:ext cx="1143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3895344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3895344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שבת · ערב 16:45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89534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מלצר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1051560" y="4005072"/>
            <a:ext cx="1143000" cy="283464"/>
          </a:xfrm>
          <a:prstGeom prst="roundRect">
            <a:avLst>
              <a:gd name="adj" fmla="val 16129"/>
            </a:avLst>
          </a:prstGeom>
          <a:solidFill>
            <a:srgbClr val="E4574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005072"/>
            <a:ext cx="1143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0120" y="4517136"/>
            <a:ext cx="6263640" cy="502920"/>
          </a:xfrm>
          <a:prstGeom prst="roundRect">
            <a:avLst>
              <a:gd name="adj" fmla="val 10909"/>
            </a:avLst>
          </a:prstGeom>
          <a:solidFill>
            <a:srgbClr val="FCEEEC"/>
          </a:solidFill>
          <a:ln/>
        </p:spPr>
      </p:sp>
      <p:sp>
        <p:nvSpPr>
          <p:cNvPr id="26" name="Text 24"/>
          <p:cNvSpPr/>
          <p:nvPr/>
        </p:nvSpPr>
        <p:spPr>
          <a:xfrm>
            <a:off x="4251960" y="4517136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שבת · בוקר 10:00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377440" y="451713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מלצר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1051560" y="4626864"/>
            <a:ext cx="1143000" cy="283464"/>
          </a:xfrm>
          <a:prstGeom prst="roundRect">
            <a:avLst>
              <a:gd name="adj" fmla="val 16129"/>
            </a:avLst>
          </a:prstGeom>
          <a:solidFill>
            <a:srgbClr val="E4574C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626864"/>
            <a:ext cx="11430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 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תרחיש אמיתי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מלצר נפל בשבת ב-20:00 — מה קורה?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203436" y="233172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23476" y="2651760"/>
            <a:ext cx="566928" cy="566928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6" name="Text 4"/>
          <p:cNvSpPr/>
          <p:nvPr/>
        </p:nvSpPr>
        <p:spPr>
          <a:xfrm>
            <a:off x="9523476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477756" y="3429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 מסמן „נפלתי”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77756" y="4160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אחת. המשמרת נפתחת.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883396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31636" y="233172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51676" y="2651760"/>
            <a:ext cx="566928" cy="566928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2" name="Text 10"/>
          <p:cNvSpPr/>
          <p:nvPr/>
        </p:nvSpPr>
        <p:spPr>
          <a:xfrm>
            <a:off x="6551676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05956" y="3429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 מסנן זכאים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05956" y="4160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מי שמתאים: תפקיד, פנוי, מנוחה תקינה.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11596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259836" y="233172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579876" y="2651760"/>
            <a:ext cx="566928" cy="566928"/>
          </a:xfrm>
          <a:prstGeom prst="ellipse">
            <a:avLst/>
          </a:prstGeom>
          <a:solidFill>
            <a:srgbClr val="E7A100"/>
          </a:solidFill>
          <a:ln/>
        </p:spPr>
      </p:sp>
      <p:sp>
        <p:nvSpPr>
          <p:cNvPr id="18" name="Text 16"/>
          <p:cNvSpPr/>
          <p:nvPr/>
        </p:nvSpPr>
        <p:spPr>
          <a:xfrm>
            <a:off x="3579876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534156" y="3429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הזכאים מקבלים הצעה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534156" y="4160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בוואטסאפ — „מי לוקח?”. הראשון שמגיב תופס.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939796" y="333756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‹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288036" y="233172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8076" y="2651760"/>
            <a:ext cx="566928" cy="566928"/>
          </a:xfrm>
          <a:prstGeom prst="ellipse">
            <a:avLst/>
          </a:prstGeom>
          <a:solidFill>
            <a:srgbClr val="1E9E5A"/>
          </a:solidFill>
          <a:ln/>
        </p:spPr>
      </p:sp>
      <p:sp>
        <p:nvSpPr>
          <p:cNvPr id="24" name="Text 22"/>
          <p:cNvSpPr/>
          <p:nvPr/>
        </p:nvSpPr>
        <p:spPr>
          <a:xfrm>
            <a:off x="608076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2356" y="342900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מאשר בקליק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356" y="416052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המשמרת עוברת, ההוגנות מתעדכנת, כולם מעודכנים.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371600" y="544068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i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טלפונים, בלי לרדוף אחרי אנשים, בלי לסכן את חוקי העבודה.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מה אתה מקבל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פחות זמן על הסידור. יותר זמן על המסעדה.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74736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57616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דקות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449056" y="3383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במקום שעות על הרכבת הסידור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4256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0F9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608576" y="3383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טעויות בחוקי עבודה ומנוחה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" y="1874520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600" b="1" dirty="0">
                <a:solidFill>
                  <a:srgbClr val="E7A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אוטומטי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68096" y="33832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טיפול בנפילות והחלפות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554480" y="4526280"/>
            <a:ext cx="9052560" cy="960120"/>
          </a:xfrm>
          <a:prstGeom prst="roundRect">
            <a:avLst>
              <a:gd name="adj" fmla="val 9524"/>
            </a:avLst>
          </a:prstGeom>
          <a:solidFill>
            <a:srgbClr val="162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4526280"/>
            <a:ext cx="8503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צוות מרוצה, סידור הוגן, ואתה בשליטה — בלי הבלגן.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38404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50" b="1" spc="200" kern="0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אפליקציה לעובדים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3840480" y="658368"/>
            <a:ext cx="7955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הכול קורה איפה שהצוות כבר נמצא — בוואטסאפ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0" y="1783080"/>
            <a:ext cx="553212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העובדים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155680" y="2660904"/>
            <a:ext cx="201168" cy="201168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26060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מקבלים בקשת זמינות בוואטסאפ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155680" y="3300984"/>
            <a:ext cx="201168" cy="201168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3246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מקבלים את הסידור האישי שלהם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155680" y="3941064"/>
            <a:ext cx="201168" cy="201168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38862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מקבלים הצעות למשמרות פנויות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1155680" y="4581144"/>
            <a:ext cx="201168" cy="201168"/>
          </a:xfrm>
          <a:prstGeom prst="ellipse">
            <a:avLst/>
          </a:prstGeom>
          <a:solidFill>
            <a:srgbClr val="0F9C8F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45262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לא צריכים להוריד שום דבר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178308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20116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162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אתה, המנהל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49240" y="2660904"/>
            <a:ext cx="201168" cy="201168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6060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מסך ניהול פשוט בדפדפן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49240" y="3300984"/>
            <a:ext cx="201168" cy="201168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24612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לחיצה אחת ליצירת סידור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49240" y="3941064"/>
            <a:ext cx="201168" cy="201168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8862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עריכה ידנית מתי שבא לך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349240" y="4581144"/>
            <a:ext cx="201168" cy="201168"/>
          </a:xfrm>
          <a:prstGeom prst="ellipse">
            <a:avLst/>
          </a:prstGeom>
          <a:solidFill>
            <a:srgbClr val="E8804B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5262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אישור החלפות בקליק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424160" y="63550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E8804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בוא נריץ שבוע אחד יחד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97280" y="2331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אתה נותן לי את הצוות והכללים — אני מחזיר לך סידור מוכן.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803904" y="3200400"/>
            <a:ext cx="457200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14300" dist="38100" dir="5400000">
              <a:srgbClr val="1F2A37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03904" y="34747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E88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מנוי חודשי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03904" y="3886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לפי סניף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803904" y="4754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C4CD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בלי התחייבות · שבוע ניסיון ללא עלות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סַדְרָן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סַדְרָן — מצגת למנהל מסעדה</dc:title>
  <dc:subject>PptxGenJS Presentation</dc:subject>
  <dc:creator>Sadran</dc:creator>
  <cp:lastModifiedBy>Sadran</cp:lastModifiedBy>
  <cp:revision>1</cp:revision>
  <dcterms:created xsi:type="dcterms:W3CDTF">2026-07-01T02:03:28Z</dcterms:created>
  <dcterms:modified xsi:type="dcterms:W3CDTF">2026-07-01T02:03:28Z</dcterms:modified>
</cp:coreProperties>
</file>